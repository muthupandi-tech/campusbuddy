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11AD-4185-EEC9-E0C3-6C882F32CD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4E7F82-55C7-FADB-9810-B696C14D5B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C1D1F-0DCC-73FA-3E7F-C9DCCB45D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3323D-C70D-CBEA-0A62-ADC4AA4AF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2BA6-62F8-3A9C-3A14-6C252A395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47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067EB-5BCE-E6E0-1ECD-904D7E931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FDE0D-4698-33EB-7EB6-6B260B8B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38335-7388-9CAF-9E89-917B4A93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F5DB8-836C-F02B-BE02-E771BB3A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3DD4A-8A5C-7D67-6401-C87F0A162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06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3A8E7-1DDB-97F0-F20A-0625364C2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AF53E-3473-4E8A-803F-4DF2A4F4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9EEB3-28F9-F388-1C94-6124B54A9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F7BF5-0A70-D2AF-09D7-DAF2FC60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4E5AD-20ED-1B92-D708-199C8214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2136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2439F-E26A-50EB-9548-0493B60C1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C58B7-F6A4-55DB-C955-EF0A2F3D9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E0EF6-C4D6-E139-1EF1-FF184264C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D7B230-5C9F-050A-3597-1537CF27C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959EE4-3C85-CC0F-383B-6AF16E60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4E6C9-2834-768B-92F2-0DC509D53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85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DE790-4D67-3442-162F-87FED37D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F7247-7A1E-F2F3-7B76-7F143B03D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0AD117-AEEC-750B-8C84-6C97268CA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5DF4B4-DE2A-3059-30E1-D0303B706A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F8FC2-8F3A-F5DC-4E59-9A20CEAADF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B8185-17DF-4C87-011E-E91B1DDE3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E6CACA-9571-63CE-ECF5-5B766E279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96301-5DD9-4F00-65AB-DC903C9A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517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278CF-2375-52DD-8D7A-9603E2CF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DA6DFE-E3B1-8F8D-D18D-0A8BF4CDF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36D5D-5C7E-7539-2C4A-D2F89E849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BBAD27-8978-D307-02E8-6935CC55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810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072A08-0010-BEA5-F92A-E4539DF1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2828D-9B5B-A725-8842-71E21A2B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1159B-AA9C-B94B-86B7-7553A8844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433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958D1-9D74-2E48-5D33-45FA5F86D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DE99B-B92A-76A1-9AE4-E9796587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D1613-E26A-3A4E-3BD5-46EDD1074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902E4-7B8F-0B14-6B86-B2A4E3CC2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ACD8B-04AB-DEF9-F0DC-D4F2850F1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82495-74F9-AD5E-9F39-D9FDE142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29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99DA-35EF-CE15-2E92-D89121D6B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2E5927-1072-23CA-B193-6D8200F02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F3765-4D1C-7F2A-5D51-D826B8EC3B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9C11B-3034-E0D8-53B4-2DD017C8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379FA-1CE4-8BA6-CEBF-F79E495A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2B6C5-70CD-1D99-D7E0-A1219D7E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23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C1B8-EC24-14BF-0190-CFF16C53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79752-E16E-D94D-B216-82A6880539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C7D9C-1E54-768C-0F4F-0901BD4E2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E5E6B-1167-FD95-9D89-9C90DDCF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560971-ED7F-0F2E-D49B-58F7FD36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678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F7F752-DB69-3990-FAC2-4FFECA6E78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42A7E-B80F-369A-D036-9F715E8114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B1908-B893-ED67-7C3F-13A36769F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41AAD-95DB-6DAF-EE43-AF6B8EF08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22B98-8C23-68C9-79FE-B4C9C99FB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835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559B7-CD02-7744-321E-1772EF75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9D39A-0EED-25F5-DCD0-101C151C0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041E6-7EAF-D765-E983-C6A27F2931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0E77A-5668-468E-91E3-765A511A663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ACC85-CE9A-7AF5-D0BF-35FDCAEAD0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27D91-BFBE-0450-F3B2-BD482064FE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2695D-A7B5-4D18-93EE-B7D35FF2DE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9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8E87-B625-A916-942B-3E71DFE49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348216" cy="2562669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Frequency-Domain Attributes of a Clock Signal</a:t>
            </a:r>
            <a:endParaRPr lang="en-IN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5B399-6FE4-217A-4112-7807FBF3DAA5}"/>
              </a:ext>
            </a:extLst>
          </p:cNvPr>
          <p:cNvSpPr txBox="1"/>
          <p:nvPr/>
        </p:nvSpPr>
        <p:spPr>
          <a:xfrm>
            <a:off x="7772400" y="4733136"/>
            <a:ext cx="39593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Presented By:</a:t>
            </a:r>
            <a:br>
              <a:rPr lang="en-IN" sz="3200" b="1" dirty="0"/>
            </a:br>
            <a:r>
              <a:rPr lang="en-IN" sz="3200" b="1" dirty="0"/>
              <a:t>   </a:t>
            </a:r>
            <a:r>
              <a:rPr lang="en-IN" sz="3200" dirty="0" err="1"/>
              <a:t>Muthupandi</a:t>
            </a:r>
            <a:r>
              <a:rPr lang="en-IN" sz="3200" dirty="0"/>
              <a:t> K</a:t>
            </a:r>
            <a:br>
              <a:rPr lang="en-IN" sz="3200" dirty="0"/>
            </a:b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64576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2BF5-20EB-3DE9-8798-7F7D565C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A44C-A490-67A7-42B6-4D28AF8B6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4408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3300" b="1" dirty="0"/>
              <a:t>Definition</a:t>
            </a:r>
            <a:endParaRPr lang="en-US" b="1" dirty="0"/>
          </a:p>
          <a:p>
            <a:r>
              <a:rPr lang="en-US" dirty="0"/>
              <a:t> Frequency-domain analysis studies </a:t>
            </a:r>
            <a:r>
              <a:rPr lang="en-US" b="1" dirty="0"/>
              <a:t>how signal power is distributed over frequency.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Time domain → timing view </a:t>
            </a:r>
          </a:p>
          <a:p>
            <a:r>
              <a:rPr lang="en-US" dirty="0"/>
              <a:t>Frequency domain → spectral view </a:t>
            </a:r>
          </a:p>
          <a:p>
            <a:r>
              <a:rPr lang="en-US" dirty="0"/>
              <a:t>Uses: </a:t>
            </a:r>
          </a:p>
          <a:p>
            <a:pPr lvl="1"/>
            <a:r>
              <a:rPr lang="en-US" b="1" dirty="0"/>
              <a:t>PSD (Power Spectral Density)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Phase Noise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Instead of time, we </a:t>
            </a:r>
            <a:r>
              <a:rPr lang="en-US" b="1" i="1" dirty="0" err="1"/>
              <a:t>analyse</a:t>
            </a:r>
            <a:r>
              <a:rPr lang="en-US" b="1" i="1" dirty="0"/>
              <a:t> the signal</a:t>
            </a:r>
            <a:r>
              <a:rPr lang="en-US" i="1" dirty="0"/>
              <a:t> in </a:t>
            </a:r>
            <a:r>
              <a:rPr lang="en-US" b="1" i="1" dirty="0"/>
              <a:t>frequency to understand noise </a:t>
            </a:r>
            <a:r>
              <a:rPr lang="en-US" b="1" i="1" dirty="0" err="1"/>
              <a:t>behaviour</a:t>
            </a:r>
            <a:r>
              <a:rPr lang="en-US" b="1" i="1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907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71AB-86B8-91A6-7ED2-78539C4EA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Ideal Clock in Frequency Domain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6758D1-A3E4-C47D-BDCD-3CB6723312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3000" b="1" dirty="0"/>
                  <a:t>Definition</a:t>
                </a:r>
              </a:p>
              <a:p>
                <a:r>
                  <a:rPr lang="en-IN" dirty="0"/>
                  <a:t> An ideal clock has energy only at specific frequencies.</a:t>
                </a:r>
              </a:p>
              <a:p>
                <a:endParaRPr lang="en-IN" b="1" dirty="0"/>
              </a:p>
              <a:p>
                <a:r>
                  <a:rPr lang="en-IN" dirty="0"/>
                  <a:t>Contains: </a:t>
                </a:r>
              </a:p>
              <a:p>
                <a:pPr lvl="1"/>
                <a:r>
                  <a:rPr lang="en-IN" dirty="0"/>
                  <a:t>Fundamental frequency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pPr lvl="1"/>
                <a:r>
                  <a:rPr lang="en-IN" dirty="0"/>
                  <a:t>Harmonics: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>
                        <a:latin typeface="Cambria Math" panose="02040503050406030204" pitchFamily="18" charset="0"/>
                      </a:rPr>
                      <m:t>7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ar-AE" dirty="0"/>
              </a:p>
              <a:p>
                <a:endParaRPr lang="en-US" b="1" dirty="0"/>
              </a:p>
              <a:p>
                <a:r>
                  <a:rPr lang="en-US" dirty="0"/>
                  <a:t>Ideal clock </a:t>
                </a:r>
                <a:r>
                  <a:rPr lang="en-US" i="1" dirty="0"/>
                  <a:t>produces</a:t>
                </a:r>
                <a:r>
                  <a:rPr lang="en-US" dirty="0"/>
                  <a:t> </a:t>
                </a:r>
                <a:r>
                  <a:rPr lang="en-US" b="1" i="1" dirty="0"/>
                  <a:t>sharp spikes at fixed frequencies.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6758D1-A3E4-C47D-BDCD-3CB6723312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8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9770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2923C-10DB-A88E-CC30-1411ED504E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384" y="1730636"/>
            <a:ext cx="5388869" cy="43244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073BF5-6FE0-ADA1-22C9-3ED52542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PSD (Power Spectral Density)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5DDC9-FBA7-3B40-90FC-4734CF967E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5904" y="1717168"/>
                <a:ext cx="6220968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sz="3000" b="1" dirty="0"/>
                  <a:t>Definition</a:t>
                </a:r>
                <a:endParaRPr lang="en-IN" b="1" dirty="0"/>
              </a:p>
              <a:p>
                <a:r>
                  <a:rPr lang="en-IN" dirty="0"/>
                  <a:t> PSD shows how signal power is distributed over frequency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b="1" dirty="0"/>
                  <a:t> </a:t>
                </a:r>
                <a:r>
                  <a:rPr lang="en-IN" sz="3000" b="1" dirty="0"/>
                  <a:t>Equation</a:t>
                </a:r>
                <a:r>
                  <a:rPr lang="en-IN" b="1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</m:oMath>
                </a14:m>
                <a:endParaRPr lang="ar-AE" dirty="0"/>
              </a:p>
              <a:p>
                <a:endParaRPr lang="en-IN" b="1" dirty="0"/>
              </a:p>
              <a:p>
                <a:r>
                  <a:rPr lang="en-IN" dirty="0"/>
                  <a:t>Unit: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p>
                        <m:r>
                          <a:rPr lang="ar-AE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ar-AE" b="1">
                        <a:latin typeface="Cambria Math" panose="02040503050406030204" pitchFamily="18" charset="0"/>
                      </a:rPr>
                      <m:t>/</m:t>
                    </m:r>
                    <m:r>
                      <a:rPr lang="ar-AE" b="1" i="1">
                        <a:latin typeface="Cambria Math" panose="02040503050406030204" pitchFamily="18" charset="0"/>
                      </a:rPr>
                      <m:t>𝑯𝒛</m:t>
                    </m:r>
                  </m:oMath>
                </a14:m>
                <a:endParaRPr lang="ar-AE" b="1" dirty="0"/>
              </a:p>
              <a:p>
                <a:r>
                  <a:rPr lang="en-IN" dirty="0"/>
                  <a:t>Shows strength of signal at each frequency </a:t>
                </a:r>
              </a:p>
              <a:p>
                <a:endParaRPr lang="en-IN" b="1" dirty="0"/>
              </a:p>
              <a:p>
                <a:r>
                  <a:rPr lang="en-IN" dirty="0"/>
                  <a:t>Higher PSD → more power at that frequency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F5DDC9-FBA7-3B40-90FC-4734CF967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904" y="1717168"/>
                <a:ext cx="6220968" cy="4351338"/>
              </a:xfrm>
              <a:blipFill>
                <a:blip r:embed="rId3"/>
                <a:stretch>
                  <a:fillRect l="-1763" t="-36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5678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40A83C-529B-9F3B-D861-52DB9A7DFF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918" y="1936296"/>
            <a:ext cx="5335563" cy="42816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85E112-2292-D432-28ED-C02FB36C5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Effect of Jitter on Spectrum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451F0-568A-3392-FC77-C1645CD18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4350"/>
            <a:ext cx="587349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000" b="1" dirty="0"/>
              <a:t>Definition</a:t>
            </a:r>
          </a:p>
          <a:p>
            <a:r>
              <a:rPr lang="en-IN" dirty="0"/>
              <a:t> Jitter spreads energy around frequency components.</a:t>
            </a:r>
          </a:p>
          <a:p>
            <a:endParaRPr lang="en-IN" dirty="0"/>
          </a:p>
          <a:p>
            <a:r>
              <a:rPr lang="en-IN" dirty="0"/>
              <a:t>Ideal → sharp spikes </a:t>
            </a:r>
          </a:p>
          <a:p>
            <a:r>
              <a:rPr lang="en-IN" dirty="0"/>
              <a:t>With jitter → </a:t>
            </a:r>
            <a:r>
              <a:rPr lang="en-IN" b="1" dirty="0"/>
              <a:t>spread (sidebands)</a:t>
            </a:r>
            <a:endParaRPr lang="en-IN" dirty="0"/>
          </a:p>
          <a:p>
            <a:endParaRPr lang="en-US" dirty="0"/>
          </a:p>
          <a:p>
            <a:r>
              <a:rPr lang="en-US" dirty="0"/>
              <a:t>Noise causes energy to spread → reduces signal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261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94AF3-3083-25EA-2A09-2CB90052E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Phase 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0163A-4C25-5F38-C19E-B672E68AF8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IN" sz="3300" b="1" dirty="0"/>
                  <a:t>Definition</a:t>
                </a:r>
                <a:endParaRPr lang="en-IN" b="1" dirty="0"/>
              </a:p>
              <a:p>
                <a:r>
                  <a:rPr lang="en-IN" dirty="0"/>
                  <a:t> Phase noise is the </a:t>
                </a:r>
                <a:r>
                  <a:rPr lang="en-IN" b="1" dirty="0"/>
                  <a:t>variation in the phase of a signal</a:t>
                </a:r>
                <a:r>
                  <a:rPr lang="en-IN" dirty="0"/>
                  <a:t> in the frequency domain.</a:t>
                </a:r>
              </a:p>
              <a:p>
                <a:pPr marL="0" indent="0">
                  <a:buNone/>
                </a:pPr>
                <a:r>
                  <a:rPr lang="en-IN" b="1" dirty="0"/>
                  <a:t> </a:t>
                </a:r>
              </a:p>
              <a:p>
                <a:pPr marL="0" indent="0">
                  <a:buNone/>
                </a:pPr>
                <a:r>
                  <a:rPr lang="en-IN" sz="3300" b="1" dirty="0"/>
                  <a:t>Equation</a:t>
                </a:r>
                <a:r>
                  <a:rPr lang="en-IN" b="1" dirty="0"/>
                  <a:t> (From Book)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ar-AE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num>
                          <m:den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  <a:p>
                <a:r>
                  <a:rPr lang="en-IN" dirty="0"/>
                  <a:t>Measured in </a:t>
                </a:r>
                <a:r>
                  <a:rPr lang="en-IN" b="1" dirty="0"/>
                  <a:t>dB/Hz</a:t>
                </a:r>
                <a:r>
                  <a:rPr lang="en-IN" dirty="0"/>
                  <a:t> </a:t>
                </a:r>
              </a:p>
              <a:p>
                <a:r>
                  <a:rPr lang="en-IN" dirty="0"/>
                  <a:t>Depends on frequency offset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l-GR" dirty="0"/>
              </a:p>
              <a:p>
                <a:endParaRPr lang="en-IN" dirty="0"/>
              </a:p>
              <a:p>
                <a:r>
                  <a:rPr lang="en-IN" dirty="0"/>
                  <a:t>It tells </a:t>
                </a:r>
                <a:r>
                  <a:rPr lang="en-IN" i="1" dirty="0"/>
                  <a:t>how much noise exists near the carrier frequency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A0163A-4C25-5F38-C19E-B672E68AF8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7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7207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490D-19C6-3501-5D36-40DD2D579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Phase Noise Using PSD Ratio</a:t>
            </a:r>
            <a:endParaRPr lang="en-IN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1D0D2-08B6-D40C-6EE8-8F0E3964F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b="1" dirty="0"/>
                  <a:t>Equation:</a:t>
                </a:r>
              </a:p>
              <a:p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l-GR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l-G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unc>
                          <m:func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/>
                        </m:func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l-GR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l-G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d>
                          </m:num>
                          <m:den>
                            <m:sSub>
                              <m:sSub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ar-AE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ar-AE" dirty="0"/>
              </a:p>
              <a:p>
                <a:endParaRPr lang="en-IN" dirty="0"/>
              </a:p>
              <a:p>
                <a:r>
                  <a:rPr lang="en-IN" dirty="0"/>
                  <a:t>Ratio of: </a:t>
                </a:r>
              </a:p>
              <a:p>
                <a:pPr lvl="1"/>
                <a:r>
                  <a:rPr lang="en-IN" dirty="0"/>
                  <a:t>Noise power </a:t>
                </a:r>
              </a:p>
              <a:p>
                <a:pPr lvl="1"/>
                <a:r>
                  <a:rPr lang="en-IN" dirty="0"/>
                  <a:t>Carrier power </a:t>
                </a:r>
              </a:p>
              <a:p>
                <a:endParaRPr lang="en-IN" b="1" dirty="0"/>
              </a:p>
              <a:p>
                <a:r>
                  <a:rPr lang="en-IN" dirty="0"/>
                  <a:t>Compares noise level with main signal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1D0D2-08B6-D40C-6EE8-8F0E3964F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712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17BE-1864-2D71-C7D4-21CE5230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Spectrum Analyser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FA2C5-E1E1-A95A-9FE7-C400FAA4D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7674864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Definition</a:t>
            </a:r>
          </a:p>
          <a:p>
            <a:r>
              <a:rPr lang="en-US" dirty="0"/>
              <a:t>Instrument used to measure PSD and phase noise</a:t>
            </a:r>
            <a:endParaRPr lang="en-US" b="1" dirty="0"/>
          </a:p>
          <a:p>
            <a:endParaRPr lang="en-US" b="1" dirty="0"/>
          </a:p>
          <a:p>
            <a:r>
              <a:rPr lang="en-US" dirty="0"/>
              <a:t>Displays: </a:t>
            </a:r>
          </a:p>
          <a:p>
            <a:pPr lvl="1"/>
            <a:r>
              <a:rPr lang="en-US" dirty="0"/>
              <a:t>Carrier peak </a:t>
            </a:r>
          </a:p>
          <a:p>
            <a:pPr lvl="1"/>
            <a:r>
              <a:rPr lang="en-US" dirty="0"/>
              <a:t>Noise floor </a:t>
            </a:r>
          </a:p>
          <a:p>
            <a:endParaRPr lang="en-US" b="1" dirty="0"/>
          </a:p>
          <a:p>
            <a:r>
              <a:rPr lang="en-US" dirty="0"/>
              <a:t>Used in real measurements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93C151-9420-FCD0-0268-38C0C0086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208" y="2739259"/>
            <a:ext cx="4783967" cy="383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4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6B92-C061-36C9-8ED3-B5CD03CE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Relation Between Time &amp; Frequency Domain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0FA35-B013-242B-3A70-7A98C4AB3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6249"/>
            <a:ext cx="10515600" cy="2536063"/>
          </a:xfrm>
        </p:spPr>
        <p:txBody>
          <a:bodyPr/>
          <a:lstStyle/>
          <a:p>
            <a:r>
              <a:rPr lang="en-US" dirty="0"/>
              <a:t>Time jitter ↔ Phase noise </a:t>
            </a:r>
          </a:p>
          <a:p>
            <a:r>
              <a:rPr lang="en-US" dirty="0"/>
              <a:t>Both represent the </a:t>
            </a:r>
            <a:r>
              <a:rPr lang="en-US" b="1" dirty="0"/>
              <a:t>same concept </a:t>
            </a:r>
            <a:r>
              <a:rPr lang="en-US" dirty="0"/>
              <a:t>in different domains </a:t>
            </a:r>
          </a:p>
          <a:p>
            <a:endParaRPr lang="en-US" dirty="0"/>
          </a:p>
          <a:p>
            <a:r>
              <a:rPr lang="en-US" i="1" dirty="0"/>
              <a:t>Time </a:t>
            </a:r>
            <a:r>
              <a:rPr lang="en-US" b="1" i="1" dirty="0"/>
              <a:t>variation</a:t>
            </a:r>
            <a:r>
              <a:rPr lang="en-US" i="1" dirty="0"/>
              <a:t> becomes </a:t>
            </a:r>
            <a:r>
              <a:rPr lang="en-US" b="1" i="1" dirty="0"/>
              <a:t>spectral spreading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803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9AE28-006A-9972-DEB3-37ECA10F9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Frequency Analysis is Important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80752-91EE-D54B-489A-A3932D856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Detect noise sources </a:t>
            </a:r>
          </a:p>
          <a:p>
            <a:r>
              <a:rPr lang="en-US" dirty="0" err="1"/>
              <a:t>Analyse</a:t>
            </a:r>
            <a:r>
              <a:rPr lang="en-US" dirty="0"/>
              <a:t> signal quality </a:t>
            </a:r>
          </a:p>
          <a:p>
            <a:r>
              <a:rPr lang="en-US" dirty="0"/>
              <a:t>Improve system performance </a:t>
            </a:r>
          </a:p>
          <a:p>
            <a:r>
              <a:rPr lang="en-US" dirty="0"/>
              <a:t>Helps design high-speed and reliable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343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40F85-CAF2-B282-B60F-34943B98E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AC59E-3292-AD39-98CF-42853DCB1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15222"/>
            <a:ext cx="10515600" cy="4351338"/>
          </a:xfrm>
        </p:spPr>
        <p:txBody>
          <a:bodyPr/>
          <a:lstStyle/>
          <a:p>
            <a:r>
              <a:rPr lang="en-US" dirty="0"/>
              <a:t>RF systems </a:t>
            </a:r>
          </a:p>
          <a:p>
            <a:r>
              <a:rPr lang="en-US" dirty="0"/>
              <a:t>PLL design </a:t>
            </a:r>
          </a:p>
          <a:p>
            <a:r>
              <a:rPr lang="en-US" dirty="0"/>
              <a:t>Communication systems </a:t>
            </a:r>
          </a:p>
          <a:p>
            <a:r>
              <a:rPr lang="en-US" dirty="0"/>
              <a:t>High-speed processors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820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8F53-4160-ECFD-9DF2-810FB0E96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C3E60-DC8E-298F-B244-5F5F67C58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1391"/>
          </a:xfrm>
        </p:spPr>
        <p:txBody>
          <a:bodyPr/>
          <a:lstStyle/>
          <a:p>
            <a:r>
              <a:rPr lang="en-US" dirty="0"/>
              <a:t>Frequency domain shows: </a:t>
            </a:r>
          </a:p>
          <a:p>
            <a:pPr lvl="1"/>
            <a:r>
              <a:rPr lang="en-US" dirty="0"/>
              <a:t>Power distribution </a:t>
            </a:r>
          </a:p>
          <a:p>
            <a:pPr lvl="1"/>
            <a:r>
              <a:rPr lang="en-US" dirty="0"/>
              <a:t>Noise </a:t>
            </a:r>
            <a:r>
              <a:rPr lang="en-US" dirty="0" err="1"/>
              <a:t>behaviour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6C5D4F-30AA-63C4-C183-02C2CC017885}"/>
              </a:ext>
            </a:extLst>
          </p:cNvPr>
          <p:cNvSpPr txBox="1"/>
          <p:nvPr/>
        </p:nvSpPr>
        <p:spPr>
          <a:xfrm>
            <a:off x="1868042" y="3956226"/>
            <a:ext cx="92327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C00000"/>
                </a:solidFill>
              </a:rPr>
              <a:t>“Phase noise and PSD help </a:t>
            </a:r>
            <a:r>
              <a:rPr lang="en-US" sz="4000" b="1" dirty="0" err="1">
                <a:solidFill>
                  <a:srgbClr val="C00000"/>
                </a:solidFill>
              </a:rPr>
              <a:t>analyse</a:t>
            </a:r>
            <a:r>
              <a:rPr lang="en-US" sz="4000" b="1" dirty="0">
                <a:solidFill>
                  <a:srgbClr val="C00000"/>
                </a:solidFill>
              </a:rPr>
              <a:t> clock quality in high-frequency systems”</a:t>
            </a:r>
          </a:p>
        </p:txBody>
      </p:sp>
    </p:spTree>
    <p:extLst>
      <p:ext uri="{BB962C8B-B14F-4D97-AF65-F5344CB8AC3E}">
        <p14:creationId xmlns:p14="http://schemas.microsoft.com/office/powerpoint/2010/main" val="33975787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355</Words>
  <Application>Microsoft Office PowerPoint</Application>
  <PresentationFormat>Widescreen</PresentationFormat>
  <Paragraphs>91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Times New Roman</vt:lpstr>
      <vt:lpstr>Office Theme</vt:lpstr>
      <vt:lpstr>Frequency-Domain Attributes of a Clock Signal</vt:lpstr>
      <vt:lpstr>Introduction</vt:lpstr>
      <vt:lpstr>Ideal Clock in Frequency Domain</vt:lpstr>
      <vt:lpstr>PSD (Power Spectral Density)</vt:lpstr>
      <vt:lpstr>Effect of Jitter on Spectrum</vt:lpstr>
      <vt:lpstr>Phase Noise</vt:lpstr>
      <vt:lpstr>Phase Noise Using PSD Ratio</vt:lpstr>
      <vt:lpstr>Spectrum Analyser Measurement</vt:lpstr>
      <vt:lpstr>Relation Between Time &amp; Frequency Domain</vt:lpstr>
      <vt:lpstr>Why Frequency Analysis is Important</vt:lpstr>
      <vt:lpstr>Applications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Muthu Pandi</dc:creator>
  <cp:lastModifiedBy>Muthu Pandi</cp:lastModifiedBy>
  <cp:revision>3</cp:revision>
  <dcterms:created xsi:type="dcterms:W3CDTF">2026-04-06T17:45:14Z</dcterms:created>
  <dcterms:modified xsi:type="dcterms:W3CDTF">2026-04-07T09:34:13Z</dcterms:modified>
</cp:coreProperties>
</file>